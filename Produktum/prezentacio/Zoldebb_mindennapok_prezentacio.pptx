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AF2"/>
    <a:srgbClr val="F1F8EC"/>
    <a:srgbClr val="F8FC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9" autoAdjust="0"/>
    <p:restoredTop sz="94610"/>
  </p:normalViewPr>
  <p:slideViewPr>
    <p:cSldViewPr snapToGrid="0" snapToObjects="1">
      <p:cViewPr>
        <p:scale>
          <a:sx n="92" d="100"/>
          <a:sy n="92" d="100"/>
        </p:scale>
        <p:origin x="336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1225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Bevezetés: A téma azért fontos, mert a környezetvédelem nem csak nagy vállalatok vagy országok feladata. A saját mindennapi szokásainkkal is csökkenthetjük a környezetterhelést.,Animáció javaslat: cím beúszás, majd a zöld címke megjelenése. Áttűnés: Fade.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Elmondás: Három nagy hétköznapi területet emelek ki: hulladék, energia és közlekedés. Ezekben mindenki tud kisebb lépéseket tenni.,Animáció javaslat: a három kártya egymás után jelenjen meg. Áttűnés: Fade.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Elmondás: A hulladékpiramis lényege, hogy ne csak a szelektálásra gondoljunk. Először próbáljuk megelőzni a hulladék keletkezését.,Animáció javaslat: a piramisszintek felülről lefelé jelenjenek meg. Áttűnés: Fade.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Elmondás: A szelektív gyűjtés akkor működik jól, ha tudjuk, mit hova kell dobni. A szennyezett papír vagy ételmaradékos csomagolás ronthatja az újrahasznosítás esélyét.,Animáció javaslat: kép után a négy kártya sorban jelenjen meg. Áttűnés: Fade.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Elmondás: A környezetvédelem nem feltétlenül drága. Sokszor az energia megtakarítása kevesebb kiadást is jelent.,Animáció javaslat: felsorolás pontjai kattintásra jelenjenek meg. Áttűnés: Fade.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Elmondás: A vízzel való takarékosság kis odafigyeléssel is megoldható. A lényeg a pazarlás csökkentése.,Animáció javaslat: a három kártya egymás után jelenjen meg. Áttűnés: Fade.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Elmondás: A vásárlási döntéseink hatással vannak a hulladékra, a szállításra és az élelmiszer-pazarlásra. Nem a tökéletesség a cél, hanem a tudatosabb szokások.,Animáció javaslat: három felső kártya, majd az alsó kiemelés jelenjen meg. Áttűnés: Fade.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Elmondás: A fenntartható közlekedés nem azt jelenti, hogy soha nem használhatunk autót, hanem azt, hogy amikor lehet, választunk kisebb terhelésű megoldást.,Animáció javaslat: közlekedési kártyák balról jobbra jelenjenek meg. Áttűnés: Fade.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Elmondás: A kihívás célja, hogy a környezetvédelem ne csak elmélet legyen. Minden nap egy apró, teljesíthető feladat szerepel.,Animáció javaslat: a hét napjai egyenként jelenjenek meg. Áttűnés: Fade.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Elmondás: Az összegzésben kiemelem, hogy a környezetvédelem nem egyetlen nagy lépés, hanem sok kicsi, ismételt döntés eredménye.,Animáció javaslat: összegző mondat, kulcsgondolat, majd forráslista jelenjen meg. Áttűnés: Fade.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BFE6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mnt/data/recycle_hands.jpg"/>
          <p:cNvPicPr>
            <a:picLocks noChangeAspect="1"/>
          </p:cNvPicPr>
          <p:nvPr/>
        </p:nvPicPr>
        <p:blipFill>
          <a:blip r:embed="rId3"/>
          <a:srcRect l="18892" r="18892"/>
          <a:stretch/>
        </p:blipFill>
        <p:spPr>
          <a:xfrm>
            <a:off x="6400800" y="640080"/>
            <a:ext cx="5074920" cy="5440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640080"/>
            <a:ext cx="164592" cy="5440680"/>
          </a:xfrm>
          <a:prstGeom prst="rect">
            <a:avLst/>
          </a:prstGeom>
          <a:solidFill>
            <a:srgbClr val="2F7D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685800" y="100584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F3D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Környezetvédelem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1F3D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mindennapokban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49808" y="274320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2605A"/>
                </a:solidFill>
              </a:rPr>
              <a:t>13 diás prezentáció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52605A"/>
                </a:solidFill>
              </a:rPr>
              <a:t>IKT Projektmunka I.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31520" y="3977640"/>
            <a:ext cx="4800600" cy="411480"/>
          </a:xfrm>
          <a:prstGeom prst="roundRect">
            <a:avLst>
              <a:gd name="adj" fmla="val 26667"/>
            </a:avLst>
          </a:prstGeom>
          <a:solidFill>
            <a:srgbClr val="2F7D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822960" y="4050792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mindennapi döntések • kevesebb hulladék • tudatos fogyasztás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5760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605A"/>
                </a:solidFill>
              </a:rPr>
              <a:t>Készítők: Malatinszky Alexandra és Kovács-Simon Eszter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2605A"/>
                </a:solidFill>
              </a:rPr>
              <a:t>1/13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BFE6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7680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F3D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Miért fontos a környezetvédelem?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4241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F3D2B"/>
                </a:solidFill>
              </a:rPr>
              <a:t>A környezetvédelem célja, hogy megőrizzük a természet erőforrásait, csökkentsük a szennyezést, és élhetőbb környezetet teremtsünk.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32918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BFE6C8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96112" y="229514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7D4C"/>
                </a:solidFill>
              </a:rPr>
              <a:t>Hulladék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651760"/>
            <a:ext cx="2962656" cy="1581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3D2B"/>
                </a:solidFill>
              </a:rPr>
              <a:t>A felesleges vásárlás, az egyszer használatos csomagolás és a rossz válogatás növeli a szemét mennyiségét.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2148840"/>
            <a:ext cx="32918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BFE6C8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99432" y="229514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7D4C"/>
                </a:solidFill>
              </a:rPr>
              <a:t>Energia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99432" y="2651760"/>
            <a:ext cx="2962656" cy="1581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3D2B"/>
                </a:solidFill>
              </a:rPr>
              <a:t>Az áram, a fűtés és a hűtés tudatos használata pénzt takarít meg, és kisebb terhet jelent a környezetnek.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2148840"/>
            <a:ext cx="32918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BFE6C8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302752" y="229514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7D4C"/>
                </a:solidFill>
              </a:rPr>
              <a:t>Közlekedés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02752" y="2651760"/>
            <a:ext cx="2962656" cy="1581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3D2B"/>
                </a:solidFill>
              </a:rPr>
              <a:t>A gyaloglás, kerékpár, tömegközlekedés és telekocsi csökkentheti az autóhasználatot.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257800" y="4937760"/>
            <a:ext cx="1645920" cy="502920"/>
          </a:xfrm>
          <a:prstGeom prst="arc">
            <a:avLst/>
          </a:prstGeom>
          <a:solidFill>
            <a:srgbClr val="000000">
              <a:alpha val="0"/>
            </a:srgbClr>
          </a:solidFill>
          <a:ln w="25400">
            <a:solidFill>
              <a:srgbClr val="2F7D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251960" y="5577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7D4C"/>
                </a:solidFill>
              </a:rPr>
              <a:t>kis döntések → nagyobb hatás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2605A"/>
                </a:solidFill>
              </a:rPr>
              <a:t>2/13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BFE6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7680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F3D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hulladékpiramis: először megelőzni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31520" y="103327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F3D2B"/>
                </a:solidFill>
              </a:rPr>
              <a:t>A legjobb hulladék az, ami létre sem jön. Ezért fontosabb a megelőzés és az újrahasználat, mint az utólagos újrahasznosítás.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011680" y="1645920"/>
            <a:ext cx="7863840" cy="594360"/>
          </a:xfrm>
          <a:prstGeom prst="roundRect">
            <a:avLst>
              <a:gd name="adj" fmla="val 12308"/>
            </a:avLst>
          </a:prstGeom>
          <a:solidFill>
            <a:srgbClr val="2F7D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240280" y="1764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1. Megelőzés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78308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Csak azt vegyük meg, amire tényleg szükség van.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554480" y="2423160"/>
            <a:ext cx="8778240" cy="594360"/>
          </a:xfrm>
          <a:prstGeom prst="roundRect">
            <a:avLst>
              <a:gd name="adj" fmla="val 12308"/>
            </a:avLst>
          </a:prstGeom>
          <a:solidFill>
            <a:srgbClr val="4A90A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783080" y="2542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2. Újrahasználat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97680" y="25603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Javítás, csere, adományozás, kulacs és vászontáska.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97280" y="3200400"/>
            <a:ext cx="9692640" cy="594360"/>
          </a:xfrm>
          <a:prstGeom prst="roundRect">
            <a:avLst>
              <a:gd name="adj" fmla="val 12308"/>
            </a:avLst>
          </a:prstGeom>
          <a:solidFill>
            <a:srgbClr val="E79A3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325880" y="3319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3. Újrahasznosítás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40480" y="333756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Papír, műanyag, fém és üveg külön gyűjtése.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10607040" cy="594360"/>
          </a:xfrm>
          <a:prstGeom prst="roundRect">
            <a:avLst>
              <a:gd name="adj" fmla="val 12308"/>
            </a:avLst>
          </a:prstGeom>
          <a:solidFill>
            <a:srgbClr val="B85C5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68680" y="4096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4. Lerakás/égetés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83280" y="411480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Ez legyen a legutolsó lehetőség.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103120" y="52120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D2B"/>
                </a:solidFill>
              </a:rPr>
              <a:t>Napi kérdés: „Valóban szükségem van erre?”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2605A"/>
                </a:solidFill>
              </a:rPr>
              <a:t>3/13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BFE6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7680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F3D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Szelektív hulladékgyűjtés otthon</a:t>
            </a:r>
            <a:endParaRPr lang="en-US" sz="2700" dirty="0"/>
          </a:p>
        </p:txBody>
      </p:sp>
      <p:pic>
        <p:nvPicPr>
          <p:cNvPr id="5" name="Image 0" descr="/mnt/data/recycling_bins.jpg"/>
          <p:cNvPicPr>
            <a:picLocks noChangeAspect="1"/>
          </p:cNvPicPr>
          <p:nvPr/>
        </p:nvPicPr>
        <p:blipFill>
          <a:blip r:embed="rId3"/>
          <a:srcRect l="6814" r="6814"/>
          <a:stretch/>
        </p:blipFill>
        <p:spPr>
          <a:xfrm>
            <a:off x="731520" y="1143000"/>
            <a:ext cx="4663440" cy="3703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06440" y="11430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BFE6C8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5971032" y="1289304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7D4C"/>
                </a:solidFill>
              </a:rPr>
              <a:t>Papír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971032" y="1645920"/>
            <a:ext cx="227685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3D2B"/>
                </a:solidFill>
              </a:rPr>
              <a:t>Újság, füzet, kartondoboz. Ne legyen zsíros vagy ételmaradékos.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732520" y="11430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BFE6C8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897112" y="1289304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7D4C"/>
                </a:solidFill>
              </a:rPr>
              <a:t>Műanyag + fém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897112" y="1645920"/>
            <a:ext cx="227685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3D2B"/>
                </a:solidFill>
              </a:rPr>
              <a:t>PET-palack, flakon, konzervdoboz. Érdemes laposra taposni.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806440" y="28803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BFE6C8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5971032" y="3026664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7D4C"/>
                </a:solidFill>
              </a:rPr>
              <a:t>Üveg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971032" y="3383280"/>
            <a:ext cx="227685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3D2B"/>
                </a:solidFill>
              </a:rPr>
              <a:t>Befőttesüveg és palack az üveggyűjtőbe kerülhet.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732520" y="28803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BFE6C8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8897112" y="3026664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7D4C"/>
                </a:solidFill>
              </a:rPr>
              <a:t>Veszélyes hulladék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897112" y="3383280"/>
            <a:ext cx="227685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3D2B"/>
                </a:solidFill>
              </a:rPr>
              <a:t>Elem, gyógyszer, festék és elektronikai hulladék külön leadóhelyre való.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14400" y="539496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F7D4C"/>
                </a:solidFill>
              </a:rPr>
              <a:t>Tipp: a szelektívet mindig tisztán és tömörítve gyűjtsük.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2605A"/>
                </a:solidFill>
              </a:rPr>
              <a:t>4/13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BFE6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7680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F3D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Energiatakarékosság a lakásban</a:t>
            </a:r>
            <a:endParaRPr lang="en-US" sz="2700" dirty="0"/>
          </a:p>
        </p:txBody>
      </p:sp>
      <p:pic>
        <p:nvPicPr>
          <p:cNvPr id="5" name="Image 0" descr="/mnt/data/energy_saving_conv.jpg"/>
          <p:cNvPicPr>
            <a:picLocks noChangeAspect="1"/>
          </p:cNvPicPr>
          <p:nvPr/>
        </p:nvPicPr>
        <p:blipFill>
          <a:blip r:embed="rId3"/>
          <a:srcRect l="16203" r="16203"/>
          <a:stretch/>
        </p:blipFill>
        <p:spPr>
          <a:xfrm>
            <a:off x="6629400" y="914400"/>
            <a:ext cx="470916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143000"/>
            <a:ext cx="5257800" cy="2971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3D2B"/>
                </a:solidFill>
              </a:rPr>
              <a:t>• LED-izzók használata a régi égők helyett
• Felesleges világítás és készenléti fogyasztás kikapcsolása
• Tudatos fűtés és hűtés: ne menjen nyitott ablaknál
• Teljes mosógép, ésszerű hőfok és rövidebb programok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22960" y="4983480"/>
            <a:ext cx="5303520" cy="411480"/>
          </a:xfrm>
          <a:prstGeom prst="roundRect">
            <a:avLst>
              <a:gd name="adj" fmla="val 26667"/>
            </a:avLst>
          </a:prstGeom>
          <a:solidFill>
            <a:srgbClr val="2F7D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914400" y="505663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 takarékosság egyszerre környezetvédelem és pénzmegtakarítás.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01000" y="4892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3D2B"/>
                </a:solidFill>
              </a:rPr>
              <a:t>Energia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2605A"/>
                </a:solidFill>
              </a:rPr>
              <a:t>5/13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BFE6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7680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F3D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Vízvédelem és tudatos vízhasználat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3D2B"/>
                </a:solidFill>
              </a:rPr>
              <a:t>Az ivóvíz értékes erőforrás. A pazarlás csökkentése otthon, iskolában és a kertben is fontos.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34290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BFE6C8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96112" y="206654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7D4C"/>
                </a:solidFill>
              </a:rPr>
              <a:t>Fürdés és mosakodás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423160"/>
            <a:ext cx="3099816" cy="1581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3D2B"/>
                </a:solidFill>
              </a:rPr>
              <a:t>Rövidebb zuhanyzás, fogmosás közben elzárt csap, csöpögő csap javítása.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0832" y="1920240"/>
            <a:ext cx="34290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BFE6C8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35424" y="206654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7D4C"/>
                </a:solidFill>
              </a:rPr>
              <a:t>Mosás és mosogatás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35424" y="2423160"/>
            <a:ext cx="3099816" cy="1581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3D2B"/>
                </a:solidFill>
              </a:rPr>
              <a:t>Csak akkor indítsuk el a gépet, ha tele van; használjunk takarékos programot.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01000" y="1920240"/>
            <a:ext cx="34290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BFE6C8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165592" y="206654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7D4C"/>
                </a:solidFill>
              </a:rPr>
              <a:t>Kert és növények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165592" y="2423160"/>
            <a:ext cx="3099816" cy="1581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3D2B"/>
                </a:solidFill>
              </a:rPr>
              <a:t>Esővíz gyűjtése, reggeli vagy esti öntözés, szárazságtűrő növények választása.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80160" y="5074920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7D4C"/>
                </a:solidFill>
              </a:rPr>
              <a:t>Egy egyszerű szabály: ahol nem kell folynia, ott zárjuk el.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2605A"/>
                </a:solidFill>
              </a:rPr>
              <a:t>6/13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BFE6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7680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F3D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Vásárlás és étkezés környezettudatosan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32918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BFE6C8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96112" y="128930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7D4C"/>
                </a:solidFill>
              </a:rPr>
              <a:t>Tervezés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112" y="1645920"/>
            <a:ext cx="296265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3D2B"/>
                </a:solidFill>
              </a:rPr>
              <a:t>Bevásárlólista, heti menüterv, maradékok felhasználása.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1143000"/>
            <a:ext cx="32918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BFE6C8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99432" y="128930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7D4C"/>
                </a:solidFill>
              </a:rPr>
              <a:t>Kevesebb csomagolás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99432" y="1645920"/>
            <a:ext cx="296265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3D2B"/>
                </a:solidFill>
              </a:rPr>
              <a:t>Saját táska, kulacs, doboz; nagyobb kiszerelés választása.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1143000"/>
            <a:ext cx="32918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BFE6C8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302752" y="128930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7D4C"/>
                </a:solidFill>
              </a:rPr>
              <a:t>Helyi és szezonális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02752" y="1645920"/>
            <a:ext cx="296265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3D2B"/>
                </a:solidFill>
              </a:rPr>
              <a:t>Közeli termelők, idényzöldségek és gyümölcsök előnyben.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417320" y="3794760"/>
            <a:ext cx="9326880" cy="1234440"/>
          </a:xfrm>
          <a:prstGeom prst="roundRect">
            <a:avLst>
              <a:gd name="adj" fmla="val 13333"/>
            </a:avLst>
          </a:prstGeom>
          <a:solidFill>
            <a:srgbClr val="EAF7EF"/>
          </a:solidFill>
          <a:ln w="12700">
            <a:solidFill>
              <a:srgbClr val="BFE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691640" y="4096512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D2B"/>
                </a:solidFill>
              </a:rPr>
              <a:t>Élelmiszer-pazarlás csökkentése: amit megveszünk, azt használjuk is fel.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828800" y="4645152"/>
            <a:ext cx="8458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2605A"/>
                </a:solidFill>
              </a:rPr>
              <a:t>Tipp: a lejárati dátumokat nézzük át hetente, és a hamarabb romló ételeket tegyük előre.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2605A"/>
                </a:solidFill>
              </a:rPr>
              <a:t>7/13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BFE6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7680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F3D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Fenntartható közlekedés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3D2B"/>
                </a:solidFill>
              </a:rPr>
              <a:t>Nem mindig kell autóba ülni. A közlekedési döntés függ a távolságtól, az időtől és a lehetőségektől.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254203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BFE6C8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96112" y="206654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7D4C"/>
                </a:solidFill>
              </a:rPr>
              <a:t>Gyaloglás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423160"/>
            <a:ext cx="2212848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3D2B"/>
                </a:solidFill>
              </a:rPr>
              <a:t>Rövid utakra a legegyszerűbb és egészséges megoldás.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84448" y="1920240"/>
            <a:ext cx="254203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BFE6C8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749040" y="206654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7D4C"/>
                </a:solidFill>
              </a:rPr>
              <a:t>Kerékpár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49040" y="2423160"/>
            <a:ext cx="2212848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3D2B"/>
                </a:solidFill>
              </a:rPr>
              <a:t>Közepes távolságokra gyors, olcsó és környezetbarát.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37376" y="1920240"/>
            <a:ext cx="254203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BFE6C8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601968" y="206654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7D4C"/>
                </a:solidFill>
              </a:rPr>
              <a:t>Tömegközlekedés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01968" y="2423160"/>
            <a:ext cx="2212848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3D2B"/>
                </a:solidFill>
              </a:rPr>
              <a:t>Kevesebb autó az utakon, kisebb terhelés a városban.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290304" y="1920240"/>
            <a:ext cx="254203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BFE6C8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454896" y="206654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7D4C"/>
                </a:solidFill>
              </a:rPr>
              <a:t>Telekocsi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454896" y="2423160"/>
            <a:ext cx="2212848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3D2B"/>
                </a:solidFill>
              </a:rPr>
              <a:t>Ha autó kell, utazzunk többen egy járművel.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143000" y="4709160"/>
            <a:ext cx="9875520" cy="0"/>
          </a:xfrm>
          <a:prstGeom prst="line">
            <a:avLst/>
          </a:prstGeom>
          <a:noFill/>
          <a:ln w="38100">
            <a:solidFill>
              <a:srgbClr val="2F7D4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68680" y="4983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2605A"/>
                </a:solidFill>
              </a:rPr>
              <a:t>rövid út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784080" y="49834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2605A"/>
                </a:solidFill>
              </a:rPr>
              <a:t>hosszabb út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920240" y="56875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F7D4C"/>
                </a:solidFill>
              </a:rPr>
              <a:t>Válasszuk azt, ami a legkevesebb környezeti terheléssel jár.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2605A"/>
                </a:solidFill>
              </a:rPr>
              <a:t>8/13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BFE6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7680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F3D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 napos környezetvédelmi kihívás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3D2B"/>
                </a:solidFill>
              </a:rPr>
              <a:t>A projekt gyakorlati részeként egy egyszerű heti kihívás is kipróbálható.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239572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BFE6C8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96112" y="202082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7D4C"/>
                </a:solidFill>
              </a:rPr>
              <a:t>Hétfő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377440"/>
            <a:ext cx="206654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3D2B"/>
                </a:solidFill>
              </a:rPr>
              <a:t>Saját kulacs használata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47872" y="1874520"/>
            <a:ext cx="239572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BFE6C8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712464" y="202082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7D4C"/>
                </a:solidFill>
              </a:rPr>
              <a:t>Kedd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12464" y="2377440"/>
            <a:ext cx="206654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3D2B"/>
                </a:solidFill>
              </a:rPr>
              <a:t>Egy nap nejlonzacskó nélkül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64224" y="1874520"/>
            <a:ext cx="239572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BFE6C8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528816" y="202082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7D4C"/>
                </a:solidFill>
              </a:rPr>
              <a:t>Szerda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28816" y="2377440"/>
            <a:ext cx="206654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3D2B"/>
                </a:solidFill>
              </a:rPr>
              <a:t>Szelektív hulladék ellenőrzése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80576" y="1874520"/>
            <a:ext cx="239572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BFE6C8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345168" y="202082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7D4C"/>
                </a:solidFill>
              </a:rPr>
              <a:t>Csütörtök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345168" y="2377440"/>
            <a:ext cx="206654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3D2B"/>
                </a:solidFill>
              </a:rPr>
              <a:t>Felesleges lámpák kikapcsolása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148840" y="3977640"/>
            <a:ext cx="239572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BFE6C8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313432" y="412394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7D4C"/>
                </a:solidFill>
              </a:rPr>
              <a:t>Péntek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313432" y="4480560"/>
            <a:ext cx="206654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3D2B"/>
                </a:solidFill>
              </a:rPr>
              <a:t>Maradék étel felhasználása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965192" y="3977640"/>
            <a:ext cx="239572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BFE6C8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129784" y="412394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7D4C"/>
                </a:solidFill>
              </a:rPr>
              <a:t>Szombat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129784" y="4480560"/>
            <a:ext cx="206654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3D2B"/>
                </a:solidFill>
              </a:rPr>
              <a:t>Rövid út autó nélkül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81544" y="3977640"/>
            <a:ext cx="239572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BFE6C8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946136" y="412394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7D4C"/>
                </a:solidFill>
              </a:rPr>
              <a:t>Vasárnap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946136" y="4480560"/>
            <a:ext cx="206654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3D2B"/>
                </a:solidFill>
              </a:rPr>
              <a:t>Egy tárgy újrahasználata vagy javítása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2605A"/>
                </a:solidFill>
              </a:rPr>
              <a:t>9/13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5B46"/>
                </a:solidFill>
              </a:defRPr>
            </a:pPr>
            <a:r>
              <a:t>Kérdőíves kutatás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548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8F73"/>
                </a:solidFill>
              </a:defRPr>
            </a:pPr>
            <a:r>
              <a:t>10/13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6400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2B"/>
                </a:solidFill>
              </a:defRPr>
            </a:pPr>
            <a:r>
              <a:t>• A projekt részeként online kérdőívet készítettünk, amelyben a mindennapi környezetvédelmi szokásokat vizsgáltuk.</a:t>
            </a:r>
          </a:p>
          <a:p>
            <a:pPr>
              <a:spcAft>
                <a:spcPts val="1200"/>
              </a:spcAft>
              <a:defRPr sz="1800">
                <a:solidFill>
                  <a:srgbClr val="26302B"/>
                </a:solidFill>
              </a:defRPr>
            </a:pPr>
            <a:r>
              <a:t>• Főbb témák: szelektív hulladékgyűjtés, víz- és energiatakarékosság, közlekedési szokások, tudatos vásárlás és élelmiszer-pazarlás.</a:t>
            </a:r>
          </a:p>
          <a:p>
            <a:pPr>
              <a:spcAft>
                <a:spcPts val="1200"/>
              </a:spcAft>
              <a:defRPr sz="1800">
                <a:solidFill>
                  <a:srgbClr val="26302B"/>
                </a:solidFill>
              </a:defRPr>
            </a:pPr>
            <a:r>
              <a:t>• A válaszokat diagramok segítségével elemeztük.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645920"/>
            <a:ext cx="1828800" cy="1234440"/>
          </a:xfrm>
          <a:prstGeom prst="roundRect">
            <a:avLst/>
          </a:prstGeom>
          <a:solidFill>
            <a:srgbClr val="EFF6F1"/>
          </a:solidFill>
          <a:ln>
            <a:solidFill>
              <a:srgbClr val="668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2D5B46"/>
                </a:solidFill>
              </a:defRPr>
            </a:pPr>
            <a:r>
              <a:t>20</a:t>
            </a:r>
          </a:p>
          <a:p>
            <a:pPr algn="ctr">
              <a:defRPr sz="1100">
                <a:solidFill>
                  <a:srgbClr val="26302B"/>
                </a:solidFill>
              </a:defRPr>
            </a:pPr>
            <a:r>
              <a:t>kitöltő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1645920"/>
            <a:ext cx="1828800" cy="1234440"/>
          </a:xfrm>
          <a:prstGeom prst="roundRect">
            <a:avLst/>
          </a:prstGeom>
          <a:solidFill>
            <a:srgbClr val="EFF6F1"/>
          </a:solidFill>
          <a:ln>
            <a:solidFill>
              <a:srgbClr val="668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2D5B46"/>
                </a:solidFill>
              </a:defRPr>
            </a:pPr>
            <a:r>
              <a:t>18</a:t>
            </a:r>
          </a:p>
          <a:p>
            <a:pPr algn="ctr">
              <a:defRPr sz="1100">
                <a:solidFill>
                  <a:srgbClr val="26302B"/>
                </a:solidFill>
              </a:defRPr>
            </a:pPr>
            <a:r>
              <a:t>kérdés</a:t>
            </a: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E2F45A44-1670-E9BF-EFAB-B544898884BD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5B46"/>
                </a:solidFill>
              </a:defRPr>
            </a:pPr>
            <a:r>
              <a:t>Környezettudatos szokások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548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8F73"/>
                </a:solidFill>
              </a:defRPr>
            </a:pPr>
            <a:r>
              <a:t>11/13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2B"/>
                </a:solidFill>
              </a:defRPr>
            </a:pPr>
            <a:r>
              <a:t>• A válaszok alapján a kitöltők többsége fontosnak tartja a környezetvédelmet.</a:t>
            </a:r>
          </a:p>
          <a:p>
            <a:pPr>
              <a:spcAft>
                <a:spcPts val="1200"/>
              </a:spcAft>
              <a:defRPr sz="1800">
                <a:solidFill>
                  <a:srgbClr val="26302B"/>
                </a:solidFill>
              </a:defRPr>
            </a:pPr>
            <a:r>
              <a:t>• Következtetés: a válaszadók jelentős része több környezettudatos szokást is alkalmaz a mindennapokban.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097280"/>
            <a:ext cx="1828800" cy="1234440"/>
          </a:xfrm>
          <a:prstGeom prst="roundRect">
            <a:avLst/>
          </a:prstGeom>
          <a:solidFill>
            <a:srgbClr val="EFF6F1"/>
          </a:solidFill>
          <a:ln>
            <a:solidFill>
              <a:srgbClr val="668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2D5B46"/>
                </a:solidFill>
              </a:defRPr>
            </a:pPr>
            <a:r>
              <a:rPr dirty="0"/>
              <a:t>75%</a:t>
            </a:r>
          </a:p>
          <a:p>
            <a:pPr algn="ctr">
              <a:defRPr sz="1100">
                <a:solidFill>
                  <a:srgbClr val="26302B"/>
                </a:solidFill>
              </a:defRPr>
            </a:pPr>
            <a:r>
              <a:rPr dirty="0" err="1"/>
              <a:t>szelektíven</a:t>
            </a:r>
            <a:r>
              <a:rPr dirty="0"/>
              <a:t> </a:t>
            </a:r>
            <a:r>
              <a:rPr dirty="0" err="1"/>
              <a:t>gyűjt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8641080" y="1095202"/>
            <a:ext cx="1828800" cy="1234440"/>
          </a:xfrm>
          <a:prstGeom prst="roundRect">
            <a:avLst/>
          </a:prstGeom>
          <a:solidFill>
            <a:srgbClr val="EFF6F1"/>
          </a:solidFill>
          <a:ln>
            <a:solidFill>
              <a:srgbClr val="668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2D5B46"/>
                </a:solidFill>
              </a:defRPr>
            </a:pPr>
            <a:r>
              <a:rPr dirty="0"/>
              <a:t>85%</a:t>
            </a:r>
          </a:p>
          <a:p>
            <a:pPr algn="ctr">
              <a:defRPr sz="1100">
                <a:solidFill>
                  <a:srgbClr val="26302B"/>
                </a:solidFill>
              </a:defRPr>
            </a:pPr>
            <a:r>
              <a:rPr dirty="0" err="1"/>
              <a:t>figyel</a:t>
            </a:r>
            <a:r>
              <a:rPr dirty="0"/>
              <a:t> </a:t>
            </a:r>
            <a:r>
              <a:rPr dirty="0" err="1"/>
              <a:t>az</a:t>
            </a:r>
            <a:r>
              <a:rPr dirty="0"/>
              <a:t> </a:t>
            </a:r>
            <a:r>
              <a:rPr dirty="0" err="1"/>
              <a:t>energiafogyasztásra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7664335" y="2715767"/>
            <a:ext cx="1828800" cy="1234440"/>
          </a:xfrm>
          <a:prstGeom prst="roundRect">
            <a:avLst/>
          </a:prstGeom>
          <a:solidFill>
            <a:srgbClr val="EFF6F1"/>
          </a:solidFill>
          <a:ln>
            <a:solidFill>
              <a:srgbClr val="668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2D5B46"/>
                </a:solidFill>
              </a:defRPr>
            </a:pPr>
            <a:r>
              <a:rPr dirty="0"/>
              <a:t>80%</a:t>
            </a:r>
          </a:p>
          <a:p>
            <a:pPr algn="ctr">
              <a:defRPr sz="1100">
                <a:solidFill>
                  <a:srgbClr val="26302B"/>
                </a:solidFill>
              </a:defRPr>
            </a:pPr>
            <a:r>
              <a:rPr dirty="0" err="1"/>
              <a:t>leoltja</a:t>
            </a:r>
            <a:r>
              <a:rPr dirty="0"/>
              <a:t> a </a:t>
            </a:r>
            <a:r>
              <a:rPr dirty="0" err="1"/>
              <a:t>villanyt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583680" y="4297680"/>
            <a:ext cx="4114800" cy="201168"/>
          </a:xfrm>
          <a:prstGeom prst="roundRect">
            <a:avLst/>
          </a:prstGeom>
          <a:solidFill>
            <a:srgbClr val="E1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0" y="4297680"/>
            <a:ext cx="3086100" cy="201168"/>
          </a:xfrm>
          <a:prstGeom prst="roundRect">
            <a:avLst/>
          </a:prstGeom>
          <a:solidFill>
            <a:srgbClr val="2F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404164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73A29"/>
                </a:solidFill>
              </a:defRPr>
            </a:pPr>
            <a:r>
              <a:t>Szelektív gyűjtés – 75%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4892040"/>
            <a:ext cx="4114800" cy="201168"/>
          </a:xfrm>
          <a:prstGeom prst="roundRect">
            <a:avLst/>
          </a:prstGeom>
          <a:solidFill>
            <a:srgbClr val="E1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0" y="4892040"/>
            <a:ext cx="3497580" cy="201168"/>
          </a:xfrm>
          <a:prstGeom prst="roundRect">
            <a:avLst/>
          </a:prstGeom>
          <a:solidFill>
            <a:srgbClr val="2F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4636007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73A29"/>
                </a:solidFill>
              </a:defRPr>
            </a:pPr>
            <a:r>
              <a:t>Energiatakarékosság – 85%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5486400"/>
            <a:ext cx="4114800" cy="201168"/>
          </a:xfrm>
          <a:prstGeom prst="roundRect">
            <a:avLst/>
          </a:prstGeom>
          <a:solidFill>
            <a:srgbClr val="E1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0" y="5486400"/>
            <a:ext cx="3291840" cy="201168"/>
          </a:xfrm>
          <a:prstGeom prst="roundRect">
            <a:avLst/>
          </a:prstGeom>
          <a:solidFill>
            <a:srgbClr val="2F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523036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73A29"/>
                </a:solidFill>
              </a:defRPr>
            </a:pPr>
            <a:r>
              <a:t>Villany leoltása – 80%</a:t>
            </a:r>
          </a:p>
        </p:txBody>
      </p:sp>
      <p:sp>
        <p:nvSpPr>
          <p:cNvPr id="18" name="Shape 0">
            <a:extLst>
              <a:ext uri="{FF2B5EF4-FFF2-40B4-BE49-F238E27FC236}">
                <a16:creationId xmlns:a16="http://schemas.microsoft.com/office/drawing/2014/main" id="{2D356941-1D50-77A1-E0CF-E330C3DC0672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5B46"/>
                </a:solidFill>
              </a:defRPr>
            </a:pPr>
            <a:r>
              <a:t>Környezetvédelem és közlekedés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548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8F73"/>
                </a:solidFill>
              </a:defRPr>
            </a:pPr>
            <a:r>
              <a:t>12/13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6400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2B"/>
                </a:solidFill>
              </a:defRPr>
            </a:pPr>
            <a:r>
              <a:t>• A válaszadók 80%-a nagyon fontosnak tartja a környezetvédelmet, ugyanakkor 70%-uk leggyakrabban autóval közlekedik.</a:t>
            </a:r>
          </a:p>
          <a:p>
            <a:pPr>
              <a:spcAft>
                <a:spcPts val="1200"/>
              </a:spcAft>
              <a:defRPr sz="1800">
                <a:solidFill>
                  <a:srgbClr val="26302B"/>
                </a:solidFill>
              </a:defRPr>
            </a:pPr>
            <a:r>
              <a:t>• Következtetés: a környezetvédelem fontosságának felismerése nem minden esetben jár együtt környezetbarátabb közlekedési szokásokkal.</a:t>
            </a:r>
          </a:p>
          <a:p>
            <a:pPr>
              <a:spcAft>
                <a:spcPts val="1200"/>
              </a:spcAft>
              <a:defRPr sz="1800">
                <a:solidFill>
                  <a:srgbClr val="26302B"/>
                </a:solidFill>
              </a:defRPr>
            </a:pPr>
            <a:r>
              <a:t>• A közlekedés ezért olyan terület lehet, ahol még van lehetőség környezettudatosabb döntésekre.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645920"/>
            <a:ext cx="1828800" cy="1234440"/>
          </a:xfrm>
          <a:prstGeom prst="roundRect">
            <a:avLst/>
          </a:prstGeom>
          <a:solidFill>
            <a:srgbClr val="EFF6F1"/>
          </a:solidFill>
          <a:ln>
            <a:solidFill>
              <a:srgbClr val="668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2D5B46"/>
                </a:solidFill>
              </a:defRPr>
            </a:pPr>
            <a:r>
              <a:t>80%</a:t>
            </a:r>
          </a:p>
          <a:p>
            <a:pPr algn="ctr">
              <a:defRPr sz="1100">
                <a:solidFill>
                  <a:srgbClr val="26302B"/>
                </a:solidFill>
              </a:defRPr>
            </a:pPr>
            <a:r>
              <a:t>fontos a környezetvédelem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1645920"/>
            <a:ext cx="1828800" cy="1234440"/>
          </a:xfrm>
          <a:prstGeom prst="roundRect">
            <a:avLst/>
          </a:prstGeom>
          <a:solidFill>
            <a:srgbClr val="EFF6F1"/>
          </a:solidFill>
          <a:ln>
            <a:solidFill>
              <a:srgbClr val="668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2D5B46"/>
                </a:solidFill>
              </a:defRPr>
            </a:pPr>
            <a:r>
              <a:t>70%</a:t>
            </a:r>
          </a:p>
          <a:p>
            <a:pPr algn="ctr">
              <a:defRPr sz="1100">
                <a:solidFill>
                  <a:srgbClr val="26302B"/>
                </a:solidFill>
              </a:defRPr>
            </a:pPr>
            <a:r>
              <a:t>autóval közlekedik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4480560"/>
            <a:ext cx="4114800" cy="201168"/>
          </a:xfrm>
          <a:prstGeom prst="roundRect">
            <a:avLst/>
          </a:prstGeom>
          <a:solidFill>
            <a:srgbClr val="E1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0" y="4480560"/>
            <a:ext cx="3291840" cy="201168"/>
          </a:xfrm>
          <a:prstGeom prst="roundRect">
            <a:avLst/>
          </a:prstGeom>
          <a:solidFill>
            <a:srgbClr val="2F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422452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73A29"/>
                </a:solidFill>
              </a:defRPr>
            </a:pPr>
            <a:r>
              <a:t>Nagyon fontosnak tartja – 80%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5120640"/>
            <a:ext cx="4114800" cy="201168"/>
          </a:xfrm>
          <a:prstGeom prst="roundRect">
            <a:avLst/>
          </a:prstGeom>
          <a:solidFill>
            <a:srgbClr val="E1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0" y="5120640"/>
            <a:ext cx="2880360" cy="201168"/>
          </a:xfrm>
          <a:prstGeom prst="roundRect">
            <a:avLst/>
          </a:prstGeom>
          <a:solidFill>
            <a:srgbClr val="2F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4864607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73A29"/>
                </a:solidFill>
              </a:defRPr>
            </a:pPr>
            <a:r>
              <a:t>Leggyakrabban autózik – 70%</a:t>
            </a:r>
          </a:p>
        </p:txBody>
      </p:sp>
      <p:sp>
        <p:nvSpPr>
          <p:cNvPr id="14" name="Shape 0">
            <a:extLst>
              <a:ext uri="{FF2B5EF4-FFF2-40B4-BE49-F238E27FC236}">
                <a16:creationId xmlns:a16="http://schemas.microsoft.com/office/drawing/2014/main" id="{FC81522A-828B-19B6-0145-F947BE461CC8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BFE6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7680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F3D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Összegzés és források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744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3D2B"/>
                </a:solidFill>
              </a:rPr>
              <a:t>A környezetvédelem a mindennapi döntéseknél kezdődik: vásárlás, hulladék, energia, víz és közlekedés. Nem kell tökéletesnek lenni, de érdemes következetesen jobb szokásokat kialakítani.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3657600" cy="3200400"/>
          </a:xfrm>
          <a:prstGeom prst="roundRect">
            <a:avLst>
              <a:gd name="adj" fmla="val 4286"/>
            </a:avLst>
          </a:prstGeom>
          <a:solidFill>
            <a:srgbClr val="EAF7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5156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7D4C"/>
                </a:solidFill>
              </a:rPr>
              <a:t>Kulcsgondolat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3246120"/>
            <a:ext cx="324612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i="1" dirty="0">
                <a:solidFill>
                  <a:srgbClr val="1F3D2B"/>
                </a:solidFill>
              </a:rPr>
              <a:t>„A legjobb hulladék az, ami létre sem jön.”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4754880" y="20574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D2B"/>
                </a:solidFill>
              </a:rPr>
              <a:t>Felhasznált források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2514600"/>
            <a:ext cx="621792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  <a:defRPr/>
            </a:pPr>
            <a:r>
              <a:t>• European Commission – Waste and recycling</a:t>
            </a:r>
            <a:endParaRPr lang="en-US" sz="1350" dirty="0"/>
          </a:p>
          <a:p>
            <a:pPr>
              <a:defRPr/>
            </a:pPr>
            <a:r>
              <a:t>• European Commission – Food Waste</a:t>
            </a:r>
          </a:p>
          <a:p>
            <a:pPr>
              <a:defRPr/>
            </a:pPr>
            <a:r>
              <a:t>• European Commission – Energy efficiency awareness</a:t>
            </a:r>
          </a:p>
          <a:p>
            <a:pPr>
              <a:defRPr/>
            </a:pPr>
            <a:r>
              <a:t>• European Environment Agency – Transport and mobility</a:t>
            </a:r>
          </a:p>
          <a:p>
            <a:pPr>
              <a:defRPr/>
            </a:pPr>
            <a:r>
              <a:t>• European Commission – Circular economy factsheets</a:t>
            </a:r>
          </a:p>
          <a:p>
            <a:pPr>
              <a:defRPr/>
            </a:pPr>
            <a:r>
              <a:t>• European Commission – Food use and waste hierarchy</a:t>
            </a:r>
          </a:p>
        </p:txBody>
      </p:sp>
      <p:sp>
        <p:nvSpPr>
          <p:cNvPr id="11" name="Text 9"/>
          <p:cNvSpPr/>
          <p:nvPr/>
        </p:nvSpPr>
        <p:spPr>
          <a:xfrm>
            <a:off x="4754880" y="5074920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05A"/>
                </a:solidFill>
              </a:rPr>
              <a:t>Képek forrása: Rawpixel, Frontier Waste Solutions, Inflacija.me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2605A"/>
                </a:solidFill>
              </a:rPr>
              <a:t>13/13</a:t>
            </a:r>
            <a:endParaRPr lang="en-US" sz="800" dirty="0"/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Készítők: Malatinszky Alexandra és Kovács-Simon Eszter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1262</Words>
  <Application>Microsoft Office PowerPoint</Application>
  <PresentationFormat>Szélesvásznú</PresentationFormat>
  <Paragraphs>163</Paragraphs>
  <Slides>13</Slides>
  <Notes>10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6" baseType="lpstr">
      <vt:lpstr>Aptos Display</vt:lpstr>
      <vt:lpstr>Arial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IKT Projektmunka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Környezetvédelem a mindennapokban</dc:title>
  <dc:subject>Környezetvédelem a mindennapokban</dc:subject>
  <dc:creator>Kovács-Simon Eszter</dc:creator>
  <cp:lastModifiedBy>Alexandra Malatinszky</cp:lastModifiedBy>
  <cp:revision>2</cp:revision>
  <dcterms:created xsi:type="dcterms:W3CDTF">2026-08-20T07:49:01Z</dcterms:created>
  <dcterms:modified xsi:type="dcterms:W3CDTF">2026-08-27T11:16:09Z</dcterms:modified>
</cp:coreProperties>
</file>